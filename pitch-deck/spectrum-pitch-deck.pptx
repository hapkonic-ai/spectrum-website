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promise, not the tech: 'You've spent 35 years building Spectrum's reputation; this proposal makes the website finally show it.' Let the hero screenshot do the talking. 30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factual, not insulting — point at the screenshot and name what you see. Goal: 'the current site undersells Spectrum.' Pause after the broken-headline point and let them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what they already understand: print ads and hoardings. 'You already spend on visibility that expires. This is the one marketing asset that never expires.' Don't rush past the empty-space screenshot — it's the punchline.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breath: 'Same information parents already need — presented the way their eyes want to receive it.' Describe the feeling; don't list features. If possible, open the live site and scroll the hero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 table row by row. Pick the two rows that stung earlier (motion, admissions) and let them scan the rest. The screenshots above the table carry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a machine: Interest → urgency → action → confirmation. The old page stops at interest. If asked about the form backend: connecting submissions to email/WhatsApp is a small add-on, quoted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Spectrum's 35-year moat made visible. One line: 'The reputation already exists — the new site finally displays it.' Real topper and faculty photos drop straight in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what's excluded is deliberate — it prevents 'I thought that was included' later and quietly scopes the ₹15,000.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 once, then stop talking. If there's silence, let it sit — the next person to speak makes the concession. The 50/50 line answers the budget question before it's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emotion, then logistics. Hand over a one-page summary and ask directly: 'Shall we start with the photos and fees?' An actual question — not 'let me know if you're interested.'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WEBSITE REVAMP PROPOSAL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800" b="0" i="0" spc="20">
                <a:solidFill>
                  <a:srgbClr val="101014"/>
                </a:solidFill>
                <a:latin typeface="Impact"/>
              </a:rPr>
              <a:t>A WEBSITE WORTHY OF </a:t>
            </a:r>
            <a:r>
              <a:rPr sz="4800" b="0" i="0" spc="20">
                <a:solidFill>
                  <a:srgbClr val="1D4DD8"/>
                </a:solidFill>
                <a:latin typeface="Impact"/>
              </a:rPr>
              <a:t>35 YEARS</a:t>
            </a:r>
            <a:r>
              <a:rPr sz="4800" b="0" i="0" spc="20">
                <a:solidFill>
                  <a:srgbClr val="101014"/>
                </a:solidFill>
                <a:latin typeface="Impact"/>
              </a:rPr>
              <a:t> OF</a:t>
            </a:r>
            <a:r>
              <a:rPr sz="4800" b="0" i="0" spc="20">
                <a:solidFill>
                  <a:srgbClr val="101014"/>
                </a:solidFill>
                <a:latin typeface="Impact"/>
              </a:rPr>
              <a:t>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71717A"/>
                </a:solidFill>
                <a:latin typeface="Calibri"/>
              </a:rPr>
              <a:t>Spectrum Tution Point, Vellore — rebuilt as a modern, animated, admissions-driving experience for Classes 6–10.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434840"/>
            <a:ext cx="24460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101014"/>
                </a:solidFill>
                <a:latin typeface="Calibri"/>
              </a:rPr>
              <a:t>CBSE · ICSE · State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43484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101014"/>
                </a:solidFill>
                <a:latin typeface="Calibri"/>
              </a:rPr>
              <a:t>Classes 6–10</a:t>
            </a:r>
          </a:p>
        </p:txBody>
      </p:sp>
      <p:pic>
        <p:nvPicPr>
          <p:cNvPr id="9" name="Picture 8" descr="new-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5074920" cy="2854642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812280" y="1371600"/>
            <a:ext cx="1691639" cy="310896"/>
          </a:xfrm>
          <a:prstGeom prst="roundRect">
            <a:avLst>
              <a:gd name="adj" fmla="val 50000"/>
            </a:avLst>
          </a:prstGeom>
          <a:solidFill>
            <a:srgbClr val="1D4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THE NEW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 spc="20">
                <a:solidFill>
                  <a:srgbClr val="101014"/>
                </a:solidFill>
                <a:latin typeface="Impact"/>
              </a:rPr>
              <a:t>YOUR CURRENT WEBSITE IS </a:t>
            </a:r>
            <a:r>
              <a:rPr sz="4000" b="0" i="0" spc="20">
                <a:solidFill>
                  <a:srgbClr val="B91C1C"/>
                </a:solidFill>
                <a:latin typeface="Impact"/>
              </a:rPr>
              <a:t>INVISIBLE</a:t>
            </a:r>
          </a:p>
        </p:txBody>
      </p:sp>
      <p:pic>
        <p:nvPicPr>
          <p:cNvPr id="6" name="Picture 5" descr="old-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5486400" cy="308610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68680" y="1874519"/>
            <a:ext cx="2171700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CURRENT SITE — LIVE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01014"/>
                </a:solidFill>
                <a:latin typeface="Calibri"/>
              </a:rPr>
              <a:t>Looks like a generic template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71717A"/>
                </a:solidFill>
                <a:latin typeface="Calibri"/>
              </a:rPr>
              <a:t>     The same as every competitor — parents can't tell Spectrum apart from a centre that started last year.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01014"/>
                </a:solidFill>
                <a:latin typeface="Calibri"/>
              </a:rPr>
              <a:t>The headline itself fails to render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71717A"/>
                </a:solidFill>
                <a:latin typeface="Calibri"/>
              </a:rPr>
              <a:t>     The page reads 'Board-Specific .' — the most important sentence is broken.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01014"/>
                </a:solidFill>
                <a:latin typeface="Calibri"/>
              </a:rPr>
              <a:t>Zero motion — the page feels abandoned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71717A"/>
                </a:solidFill>
                <a:latin typeface="Calibri"/>
              </a:rPr>
              <a:t>     A static page reads as 'this business isn't active' to a first-time parent.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01014"/>
                </a:solidFill>
                <a:latin typeface="Calibri"/>
              </a:rPr>
              <a:t>Nothing guides a visitor toward admissions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93C5FD"/>
                </a:solidFill>
                <a:latin typeface="Calibri"/>
              </a:rPr>
              <a:t>COST OF DOING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 spc="20">
                <a:solidFill>
                  <a:srgbClr val="FFFFFF"/>
                </a:solidFill>
                <a:latin typeface="Impact"/>
              </a:rPr>
              <a:t>EVERY SILENT VISIT IS A </a:t>
            </a:r>
            <a:r>
              <a:rPr sz="4000" b="0" i="0" spc="20">
                <a:solidFill>
                  <a:srgbClr val="35C99B"/>
                </a:solidFill>
                <a:latin typeface="Impact"/>
              </a:rPr>
              <a:t>LOST 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The entire call-to-action is a paragraph of text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No form, no countdown, no phone button — interest evaporates.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Parents shortlist 3–4 centres online before visiting any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The centre that looks alive and modern wins the walk-in.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 hoarding costs ₹20,000+ a month — and expires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A website works 24/7 for every admission season, at ₹0/month.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One enrolment pays for this entire project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Every admission is worth years of fees.</a:t>
            </a:r>
          </a:p>
        </p:txBody>
      </p:sp>
      <p:pic>
        <p:nvPicPr>
          <p:cNvPr id="7" name="Picture 6" descr="old-3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66360" cy="2906077"/>
          </a:xfrm>
          <a:prstGeom prst="rect">
            <a:avLst/>
          </a:prstGeom>
          <a:ln w="38100">
            <a:solidFill>
              <a:srgbClr val="2A2A33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675120" y="1874519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THE CURRENT 'CALL TO ACTION'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THE NEW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0" i="0" spc="20">
                <a:solidFill>
                  <a:srgbClr val="101014"/>
                </a:solidFill>
                <a:latin typeface="Impact"/>
              </a:rPr>
              <a:t>FIRST IMPRESSIONS NOW </a:t>
            </a:r>
            <a:r>
              <a:rPr sz="3800" b="0" i="0" spc="20">
                <a:solidFill>
                  <a:srgbClr val="1D4DD8"/>
                </a:solidFill>
                <a:latin typeface="Impact"/>
              </a:rPr>
              <a:t>DO JUSTICE</a:t>
            </a:r>
            <a:r>
              <a:rPr sz="3800" b="0" i="0" spc="20">
                <a:solidFill>
                  <a:srgbClr val="101014"/>
                </a:solidFill>
                <a:latin typeface="Impact"/>
              </a:rPr>
              <a:t> TO SPECTRUM</a:t>
            </a:r>
          </a:p>
        </p:txBody>
      </p:sp>
      <p:pic>
        <p:nvPicPr>
          <p:cNvPr id="6" name="Picture 5" descr="new-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03920" cy="4783455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2103120" y="1737360"/>
            <a:ext cx="2171700" cy="310896"/>
          </a:xfrm>
          <a:prstGeom prst="roundRect">
            <a:avLst>
              <a:gd name="adj" fmla="val 50000"/>
            </a:avLst>
          </a:prstGeom>
          <a:solidFill>
            <a:srgbClr val="1D4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NEW HERO — FULLY ANIMATED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3830510388239"/>
            <a:ext cx="219090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101014"/>
                </a:solidFill>
                <a:latin typeface="Calibri"/>
              </a:rPr>
              <a:t>Floating subject pills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30510388239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101014"/>
                </a:solidFill>
                <a:latin typeface="Calibri"/>
              </a:rPr>
              <a:t>Live 98.2% stat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830510388239"/>
            <a:ext cx="27861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101014"/>
                </a:solidFill>
                <a:latin typeface="Calibri"/>
              </a:rPr>
              <a:t>Student energy, brand colours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1717A"/>
                </a:solidFill>
                <a:latin typeface="Calibri"/>
              </a:rPr>
              <a:t>Everything moves, pops and guides — it feels like a national brand, not a local flyer.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0" i="0" spc="20">
                <a:solidFill>
                  <a:srgbClr val="101014"/>
                </a:solidFill>
                <a:latin typeface="Impact"/>
              </a:rPr>
              <a:t>OLD VS NEW — </a:t>
            </a:r>
            <a:r>
              <a:rPr sz="3600" b="0" i="0" spc="20">
                <a:solidFill>
                  <a:srgbClr val="1D4DD8"/>
                </a:solidFill>
                <a:latin typeface="Impact"/>
              </a:rPr>
              <a:t>THE DIFFERENCE IS THE DETAILS</a:t>
            </a:r>
          </a:p>
        </p:txBody>
      </p:sp>
      <p:pic>
        <p:nvPicPr>
          <p:cNvPr id="6" name="Picture 5" descr="old-2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2651760" cy="1491615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7" name="Picture 6" descr="new-3-sub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74519"/>
            <a:ext cx="2651760" cy="1491615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77240" y="1709928"/>
            <a:ext cx="1760220" cy="310896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OLD: STATIC SECTION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70992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1D4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NEW: INTERACTIVE TABS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29400" y="1828800"/>
          <a:ext cx="4983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828800"/>
                <a:gridCol w="1920240"/>
              </a:tblGrid>
              <a:tr h="640080">
                <a:tc>
                  <a:txBody>
                    <a:bodyPr/>
                    <a:lstStyle/>
                    <a:p>
                      <a:r>
                        <a:rPr sz="950" b="1" i="0" spc="140">
                          <a:solidFill>
                            <a:srgbClr val="71717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EAE9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140">
                          <a:solidFill>
                            <a:srgbClr val="71717A"/>
                          </a:solidFill>
                          <a:latin typeface="Calibri"/>
                        </a:rPr>
                        <a:t>CURRENT WEBSITE</a:t>
                      </a:r>
                    </a:p>
                  </a:txBody>
                  <a:tcPr marL="73152" marR="54864" marT="27432" marB="27432" anchor="ctr">
                    <a:solidFill>
                      <a:srgbClr val="EAE9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 spc="140">
                          <a:solidFill>
                            <a:srgbClr val="71717A"/>
                          </a:solidFill>
                          <a:latin typeface="Calibri"/>
                        </a:rPr>
                        <a:t>NEW WEBSITE</a:t>
                      </a:r>
                    </a:p>
                  </a:txBody>
                  <a:tcPr marL="73152" marR="54864" marT="27432" marB="27432" anchor="ctr">
                    <a:solidFill>
                      <a:srgbClr val="EAE9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014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91C1C"/>
                          </a:solidFill>
                          <a:latin typeface="Calibri"/>
                        </a:rPr>
                        <a:t>Generic template, dated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47857"/>
                          </a:solidFill>
                          <a:latin typeface="Calibri"/>
                        </a:rPr>
                        <a:t>Custom, editorial, brand-first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014"/>
                          </a:solidFill>
                          <a:latin typeface="Calibri"/>
                        </a:rPr>
                        <a:t>Motion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91C1C"/>
                          </a:solidFill>
                          <a:latin typeface="Calibri"/>
                        </a:rPr>
                        <a:t>None — static page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47857"/>
                          </a:solidFill>
                          <a:latin typeface="Calibri"/>
                        </a:rPr>
                        <a:t>30+ animations, marquees, live counters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014"/>
                          </a:solidFill>
                          <a:latin typeface="Calibri"/>
                        </a:rPr>
                        <a:t>Results &amp; faculty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91C1C"/>
                          </a:solidFill>
                          <a:latin typeface="Calibri"/>
                        </a:rPr>
                        <a:t>Plain text lists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47857"/>
                          </a:solidFill>
                          <a:latin typeface="Calibri"/>
                        </a:rPr>
                        <a:t>Photo carousels with scores &amp; credentials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014"/>
                          </a:solidFill>
                          <a:latin typeface="Calibri"/>
                        </a:rPr>
                        <a:t>Admissions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91C1C"/>
                          </a:solidFill>
                          <a:latin typeface="Calibri"/>
                        </a:rPr>
                        <a:t>One paragraph of text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47857"/>
                          </a:solidFill>
                          <a:latin typeface="Calibri"/>
                        </a:rPr>
                        <a:t>Countdown + demo-class form + confirmation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014"/>
                          </a:solidFill>
                          <a:latin typeface="Calibri"/>
                        </a:rPr>
                        <a:t>Editing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91C1C"/>
                          </a:solidFill>
                          <a:latin typeface="Calibri"/>
                        </a:rPr>
                        <a:t>Developer needed per change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47857"/>
                          </a:solidFill>
                          <a:latin typeface="Calibri"/>
                        </a:rPr>
                        <a:t>All content editable from one file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01014"/>
                          </a:solidFill>
                          <a:latin typeface="Calibri"/>
                        </a:rPr>
                        <a:t>Running cost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B91C1C"/>
                          </a:solidFill>
                          <a:latin typeface="Calibri"/>
                        </a:rPr>
                        <a:t>Current hosting bills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47857"/>
                          </a:solidFill>
                          <a:latin typeface="Calibri"/>
                        </a:rPr>
                        <a:t>₹0/month hosting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" y="489204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01014"/>
                </a:solidFill>
                <a:latin typeface="Calibri"/>
              </a:rPr>
              <a:t>The point: </a:t>
            </a:r>
            <a:r>
              <a:rPr sz="1300" b="0" i="0">
                <a:solidFill>
                  <a:srgbClr val="71717A"/>
                </a:solidFill>
                <a:latin typeface="Calibri"/>
              </a:rPr>
              <a:t>same school, same fees, same faculty — but the new site makes Spectrum look like the obvious choice before a parent ever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93C5FD"/>
                </a:solidFill>
                <a:latin typeface="Calibri"/>
              </a:rPr>
              <a:t>ADMISSIONS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400" b="0" i="0" spc="20">
                <a:solidFill>
                  <a:srgbClr val="FFFFFF"/>
                </a:solidFill>
                <a:latin typeface="Impact"/>
              </a:rPr>
              <a:t>EVERY SCROLL MOVES A PARENT CLOSER TO </a:t>
            </a:r>
            <a:r>
              <a:rPr sz="3400" b="0" i="0" spc="20">
                <a:solidFill>
                  <a:srgbClr val="35C99B"/>
                </a:solidFill>
                <a:latin typeface="Impact"/>
              </a:rPr>
              <a:t>“BOOK A DEMO”</a:t>
            </a:r>
          </a:p>
        </p:txBody>
      </p:sp>
      <p:pic>
        <p:nvPicPr>
          <p:cNvPr id="6" name="Picture 5" descr="new-6-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3120"/>
            <a:ext cx="6766560" cy="3806190"/>
          </a:xfrm>
          <a:prstGeom prst="rect">
            <a:avLst/>
          </a:prstGeom>
          <a:ln w="38100">
            <a:solidFill>
              <a:srgbClr val="2A2A33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68680" y="1920240"/>
            <a:ext cx="2034539" cy="310896"/>
          </a:xfrm>
          <a:prstGeom prst="roundRect">
            <a:avLst>
              <a:gd name="adj" fmla="val 50000"/>
            </a:avLst>
          </a:prstGeom>
          <a:solidFill>
            <a:srgbClr val="1D4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LIVE ADMISSIONS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94560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Live countdown to the deadline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Urgency that text alone can't create.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Demo-class form with instant confirmation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Interest is captured the moment it happens — not lost to 'call us later'.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Phone &amp; WhatsApp one tap away, everywhere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Designed mobile-first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C9C9D1"/>
                </a:solidFill>
                <a:latin typeface="Calibri"/>
              </a:rPr>
              <a:t>     Where parents actually browse.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TRUST ON DISPLAY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0" i="0" spc="20">
                <a:solidFill>
                  <a:srgbClr val="101014"/>
                </a:solidFill>
                <a:latin typeface="Impact"/>
              </a:rPr>
              <a:t>RESULTS AND MENTORS, </a:t>
            </a:r>
            <a:r>
              <a:rPr sz="3800" b="0" i="0" spc="20">
                <a:solidFill>
                  <a:srgbClr val="1D4DD8"/>
                </a:solidFill>
                <a:latin typeface="Impact"/>
              </a:rPr>
              <a:t>FRONT AND CENTER</a:t>
            </a:r>
          </a:p>
        </p:txBody>
      </p:sp>
      <p:pic>
        <p:nvPicPr>
          <p:cNvPr id="6" name="Picture 5" descr="new-5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3120"/>
            <a:ext cx="6766560" cy="380619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68680" y="1920240"/>
            <a:ext cx="2720340" cy="310896"/>
          </a:xfrm>
          <a:prstGeom prst="roundRect">
            <a:avLst>
              <a:gd name="adj" fmla="val 50000"/>
            </a:avLst>
          </a:prstGeom>
          <a:solidFill>
            <a:srgbClr val="1D4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Calibri"/>
              </a:rPr>
              <a:t>TOPPER CAROUSELS — AUTO-SCROLLING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94560"/>
            <a:ext cx="38404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01014"/>
                </a:solidFill>
                <a:latin typeface="Calibri"/>
              </a:rPr>
              <a:t>Toppers scroll by with photos &amp; scores</a:t>
            </a:r>
          </a:p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71717A"/>
                </a:solidFill>
                <a:latin typeface="Calibri"/>
              </a:rPr>
              <a:t>     Proof beats claims — parents see faces, not a numbered list.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01014"/>
                </a:solidFill>
                <a:latin typeface="Calibri"/>
              </a:rPr>
              <a:t>Faculty marquee with portraits &amp; credentials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01014"/>
                </a:solidFill>
                <a:latin typeface="Calibri"/>
              </a:rPr>
              <a:t>Parent reviews in an infinite wall</a:t>
            </a:r>
          </a:p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5C99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01014"/>
                </a:solidFill>
                <a:latin typeface="Calibri"/>
              </a:rPr>
              <a:t>98.6% distinction story woven through the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 spc="20">
                <a:solidFill>
                  <a:srgbClr val="101014"/>
                </a:solidFill>
                <a:latin typeface="Impact"/>
              </a:rPr>
              <a:t>EVERYTHING IS INCLUDED — </a:t>
            </a:r>
            <a:r>
              <a:rPr sz="4000" b="0" i="0" spc="20">
                <a:solidFill>
                  <a:srgbClr val="1D4DD8"/>
                </a:solidFill>
                <a:latin typeface="Impact"/>
              </a:rPr>
              <a:t>ONE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14-section complete website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Full custom motion design — hero, carousels, counters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Mobile, tablet &amp; desktop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Your logo &amp; brand colours throughout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79" y="2286000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All current content, reorganised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Demo-class enquiry form + countdown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Hosting setup done for you — ₹0/month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1" i="0">
                <a:solidFill>
                  <a:srgbClr val="047857"/>
                </a:solidFill>
                <a:latin typeface="Calibri"/>
              </a:rPr>
              <a:t>✓  </a:t>
            </a:r>
            <a:r>
              <a:rPr sz="1500" b="1" i="0">
                <a:solidFill>
                  <a:srgbClr val="101014"/>
                </a:solidFill>
                <a:latin typeface="Calibri"/>
              </a:rPr>
              <a:t>Handover docs + 15-min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01014"/>
                </a:solidFill>
                <a:latin typeface="Calibri"/>
              </a:rPr>
              <a:t>Outside this package: </a:t>
            </a:r>
            <a:r>
              <a:rPr sz="1250" b="0" i="0">
                <a:solidFill>
                  <a:srgbClr val="71717A"/>
                </a:solidFill>
                <a:latin typeface="Calibri"/>
              </a:rPr>
              <a:t>the domain (~₹900/year, paid to the registrar) and future photo/content swaps.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300">
                <a:solidFill>
                  <a:srgbClr val="93C5FD"/>
                </a:solidFill>
                <a:latin typeface="Calibri"/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3800" b="0" i="0" spc="20">
                <a:solidFill>
                  <a:srgbClr val="FFFFFF"/>
                </a:solidFill>
                <a:latin typeface="Impact"/>
              </a:rPr>
              <a:t>ONE-TIME INVESTMENT. </a:t>
            </a:r>
            <a:r>
              <a:rPr sz="3800" b="0" i="0" spc="20">
                <a:solidFill>
                  <a:srgbClr val="35C99B"/>
                </a:solidFill>
                <a:latin typeface="Impact"/>
              </a:rPr>
              <a:t>ZERO MONTHLY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C9C9D1"/>
                </a:solidFill>
                <a:latin typeface="Impact"/>
              </a:rPr>
              <a:t>₹ </a:t>
            </a:r>
            <a:r>
              <a:rPr sz="11000" b="0" i="0" spc="20">
                <a:solidFill>
                  <a:srgbClr val="1D4DD8"/>
                </a:solidFill>
                <a:latin typeface="Impact"/>
              </a:rPr>
              <a:t>15,000</a:t>
            </a:r>
            <a:r>
              <a:rPr sz="2400" b="1" i="0">
                <a:solidFill>
                  <a:srgbClr val="C9C9D1"/>
                </a:solidFill>
                <a:latin typeface="Calibri"/>
              </a:rPr>
              <a:t>  one-time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572000"/>
            <a:ext cx="2701137" cy="384048"/>
          </a:xfrm>
          <a:prstGeom prst="roundRect">
            <a:avLst>
              <a:gd name="adj" fmla="val 50000"/>
            </a:avLst>
          </a:prstGeom>
          <a:solidFill>
            <a:srgbClr val="17171C"/>
          </a:solidFill>
          <a:ln w="9525">
            <a:solidFill>
              <a:srgbClr val="3A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₹0 / month hosting — forever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457200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7171C"/>
          </a:solidFill>
          <a:ln w="9525">
            <a:solidFill>
              <a:srgbClr val="3A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Only ~₹900/yr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572000"/>
            <a:ext cx="2616098" cy="384048"/>
          </a:xfrm>
          <a:prstGeom prst="roundRect">
            <a:avLst>
              <a:gd name="adj" fmla="val 50000"/>
            </a:avLst>
          </a:prstGeom>
          <a:solidFill>
            <a:srgbClr val="17171C"/>
          </a:solidFill>
          <a:ln w="9525">
            <a:solidFill>
              <a:srgbClr val="3A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100% yours — full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257800"/>
            <a:ext cx="9235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 i="0">
                <a:solidFill>
                  <a:srgbClr val="C9C9D1"/>
                </a:solidFill>
                <a:latin typeface="Calibri"/>
              </a:rPr>
              <a:t>A single hoarding costs more per month — and expires. This works every admission season, for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200">
                <a:solidFill>
                  <a:srgbClr val="8B8B95"/>
                </a:solidFill>
                <a:latin typeface="Calibri"/>
              </a:rPr>
              <a:t>LAUNCH PRICING FOR SPECTRUM · 50% TO BEGIN, 50% AT GO-LIVE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" y="475488"/>
            <a:ext cx="91440" cy="91440"/>
          </a:xfrm>
          <a:prstGeom prst="ellipse">
            <a:avLst/>
          </a:prstGeom>
          <a:solidFill>
            <a:srgbClr val="35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84048"/>
            <a:ext cx="110002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1E3A8A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 spc="20">
                <a:solidFill>
                  <a:srgbClr val="101014"/>
                </a:solidFill>
                <a:latin typeface="Impact"/>
              </a:rPr>
              <a:t>LIVE WITHIN </a:t>
            </a:r>
            <a:r>
              <a:rPr sz="4000" b="0" i="0" spc="20">
                <a:solidFill>
                  <a:srgbClr val="1D4DD8"/>
                </a:solidFill>
                <a:latin typeface="Impact"/>
              </a:rPr>
              <a:t>DAYS</a:t>
            </a:r>
            <a:r>
              <a:rPr sz="4000" b="0" i="0" spc="20">
                <a:solidFill>
                  <a:srgbClr val="101014"/>
                </a:solidFill>
                <a:latin typeface="Impact"/>
              </a:rPr>
              <a:t>, NOT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D4DD8"/>
                </a:solidFill>
                <a:latin typeface="Impac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6712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1014"/>
                </a:solidFill>
                <a:latin typeface="Calibri"/>
              </a:rPr>
              <a:t>Approve &amp; share final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58775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1717A"/>
                </a:solidFill>
                <a:latin typeface="Calibri"/>
              </a:rPr>
              <a:t>Real topper/faculty photos, current fees, contact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D4DD8"/>
                </a:solidFill>
                <a:latin typeface="Impac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186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1014"/>
                </a:solidFill>
                <a:latin typeface="Calibri"/>
              </a:rPr>
              <a:t>We deploy &amp; connect your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3931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1717A"/>
                </a:solidFill>
                <a:latin typeface="Calibri"/>
              </a:rPr>
              <a:t>Hosting, SSL, and the domain pointed to the new 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D4DD8"/>
                </a:solidFill>
                <a:latin typeface="Impac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702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1014"/>
                </a:solidFill>
                <a:latin typeface="Calibri"/>
              </a:rPr>
              <a:t>Go live + 15-minute handover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6908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1717A"/>
                </a:solidFill>
                <a:latin typeface="Calibri"/>
              </a:rPr>
              <a:t>You see exactly how to update anything, anytime.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 spc="20">
                <a:solidFill>
                  <a:srgbClr val="1E3A8A"/>
                </a:solidFill>
                <a:latin typeface="Impact"/>
              </a:rPr>
              <a:t>35 YEARS OF TEACHING EXCELLENCE — NOW WITH A WEBSITE THAT SHOWS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